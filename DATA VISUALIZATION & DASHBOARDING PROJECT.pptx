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10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4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61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77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42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77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0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81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822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50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6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F805C-BCEA-495A-94A9-01793F2AEBAD}" type="datetimeFigureOut">
              <a:rPr lang="en-US" smtClean="0"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C33134B-F2D6-40E0-B913-7F67C44458F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91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9148-6525-34D5-9500-B5E087293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DATA VISUALIZATION &amp; DASHBOARDING PROJECT</a:t>
            </a:r>
            <a:br>
              <a:rPr lang="en-GB" sz="2400" dirty="0"/>
            </a:br>
            <a:r>
              <a:rPr lang="en-GB" sz="1400" dirty="0"/>
              <a:t>Superstore sales analysis dashboard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3D211-25D1-9F58-0424-44E53C655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Prepared: Veronica James okuba 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Analystlab Africa internship 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WEEK: 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51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C4E5-9163-9505-70F1-0E1834E7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the 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F273A-CB82-CE68-A842-57D69E985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200" dirty="0"/>
              <a:t>The project uses the sample superstore Dataset, which contains retail transaction records from a superstore business.</a:t>
            </a:r>
          </a:p>
          <a:p>
            <a:pPr marL="0" indent="0">
              <a:buNone/>
            </a:pPr>
            <a:r>
              <a:rPr lang="en-US" sz="1200" dirty="0"/>
              <a:t>The dataset include:</a:t>
            </a:r>
          </a:p>
          <a:p>
            <a:r>
              <a:rPr lang="en-US" sz="1200" dirty="0"/>
              <a:t>Customer information</a:t>
            </a:r>
          </a:p>
          <a:p>
            <a:r>
              <a:rPr lang="en-US" sz="1200" dirty="0"/>
              <a:t>Product categories and sub-categories</a:t>
            </a:r>
          </a:p>
          <a:p>
            <a:r>
              <a:rPr lang="en-US" sz="1200" dirty="0"/>
              <a:t>Sales transactions</a:t>
            </a:r>
          </a:p>
          <a:p>
            <a:r>
              <a:rPr lang="en-US" sz="1200" dirty="0"/>
              <a:t>Regional performance</a:t>
            </a:r>
          </a:p>
          <a:p>
            <a:r>
              <a:rPr lang="en-US" sz="1200" dirty="0"/>
              <a:t>Profit and discount records</a:t>
            </a:r>
          </a:p>
          <a:p>
            <a:r>
              <a:rPr lang="en-US" sz="1200" dirty="0"/>
              <a:t>Order dates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1200" dirty="0"/>
              <a:t>Purpose</a:t>
            </a:r>
          </a:p>
          <a:p>
            <a:r>
              <a:rPr lang="en-US" sz="1200" dirty="0"/>
              <a:t>The dataset helps analyze business performance and identify areas for improvement.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07997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F95B-4510-CAD8-A4C3-826220A7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F5DD-EC1C-F116-0447-091B86D3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Business generate large volumes of sales data daily, but raw data alone does not support decision-making.</a:t>
            </a:r>
          </a:p>
          <a:p>
            <a:pPr marL="0" indent="0">
              <a:buNone/>
            </a:pPr>
            <a:r>
              <a:rPr lang="en-GB" dirty="0"/>
              <a:t>This project aims to answer important business questions such as:</a:t>
            </a:r>
          </a:p>
          <a:p>
            <a:r>
              <a:rPr lang="en-GB" dirty="0"/>
              <a:t>Which region generates the highest sales?</a:t>
            </a:r>
          </a:p>
          <a:p>
            <a:r>
              <a:rPr lang="en-GB" dirty="0"/>
              <a:t>Which region is most profitable?</a:t>
            </a:r>
          </a:p>
          <a:p>
            <a:r>
              <a:rPr lang="en-GB" dirty="0"/>
              <a:t>Which product sub-category sells best?</a:t>
            </a:r>
          </a:p>
          <a:p>
            <a:r>
              <a:rPr lang="en-GB" dirty="0"/>
              <a:t>How does discount affect profit?</a:t>
            </a:r>
          </a:p>
          <a:p>
            <a:r>
              <a:rPr lang="en-GB" dirty="0"/>
              <a:t>What sales trend exist over time?</a:t>
            </a:r>
          </a:p>
          <a:p>
            <a:pPr marL="0" indent="0">
              <a:buNone/>
            </a:pPr>
            <a:r>
              <a:rPr lang="en-GB" dirty="0"/>
              <a:t>The goal is to transform raw data into actionable business insights using interactive dashboard.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9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EB94-06A4-9972-D449-D15FAA9F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KEY PERFORMANCE INDICATORS (KPIs)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F3CB2-5A06-D1A0-DB10-0C3933675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The following KPIs were used to measure business performance:</a:t>
            </a:r>
          </a:p>
          <a:p>
            <a:pPr marL="0" indent="0">
              <a:buNone/>
            </a:pPr>
            <a:r>
              <a:rPr lang="en-GB" dirty="0"/>
              <a:t>KPI SUMMARY</a:t>
            </a:r>
          </a:p>
          <a:p>
            <a:r>
              <a:rPr lang="en-GB" dirty="0"/>
              <a:t>Total Sales: $2.3 Million</a:t>
            </a:r>
          </a:p>
          <a:p>
            <a:r>
              <a:rPr lang="en-GB" dirty="0"/>
              <a:t>Total Profit: $286 Thousand</a:t>
            </a:r>
          </a:p>
          <a:p>
            <a:r>
              <a:rPr lang="en-GB" dirty="0"/>
              <a:t>Total Quantity Sold: 38 Thousand Units</a:t>
            </a:r>
          </a:p>
          <a:p>
            <a:pPr marL="0" indent="0">
              <a:buNone/>
            </a:pPr>
            <a:r>
              <a:rPr lang="en-US" dirty="0"/>
              <a:t>Additional metric analyzed:</a:t>
            </a:r>
          </a:p>
          <a:p>
            <a:r>
              <a:rPr lang="en-US" dirty="0"/>
              <a:t>Regional sales performance</a:t>
            </a:r>
          </a:p>
          <a:p>
            <a:r>
              <a:rPr lang="en-GB" dirty="0"/>
              <a:t>Profit by category</a:t>
            </a:r>
          </a:p>
          <a:p>
            <a:r>
              <a:rPr lang="en-GB" dirty="0"/>
              <a:t>Monthly Sales trend</a:t>
            </a:r>
          </a:p>
          <a:p>
            <a:r>
              <a:rPr lang="en-GB" dirty="0"/>
              <a:t>Discount impact on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6434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2DEFE-1FC5-001F-92A4-87DD82C3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B9C51-BE52-888B-F8FF-5F494CFF9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96" y="1853755"/>
            <a:ext cx="8779001" cy="431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04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95FF-ED59-84A8-A15B-38AAA8BA9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A8632-85EE-7DA1-0DFE-8BB4A061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West Region Leads In Sales</a:t>
            </a:r>
          </a:p>
          <a:p>
            <a:pPr marL="0" indent="0">
              <a:buNone/>
            </a:pPr>
            <a:r>
              <a:rPr lang="en-US" dirty="0"/>
              <a:t>The west region generated the highest sales at approximately $725K.</a:t>
            </a:r>
          </a:p>
          <a:p>
            <a:r>
              <a:rPr lang="en-US" dirty="0"/>
              <a:t>West Region Has Highest Profit</a:t>
            </a:r>
          </a:p>
          <a:p>
            <a:pPr marL="0" indent="0">
              <a:buNone/>
            </a:pPr>
            <a:r>
              <a:rPr lang="en-GB" dirty="0"/>
              <a:t>The west region also produced the highest profit at $108K.</a:t>
            </a:r>
          </a:p>
          <a:p>
            <a:r>
              <a:rPr lang="en-GB" dirty="0"/>
              <a:t>South Region Underperforms</a:t>
            </a:r>
          </a:p>
          <a:p>
            <a:pPr marL="0" indent="0">
              <a:buNone/>
            </a:pPr>
            <a:r>
              <a:rPr lang="en-GB" dirty="0"/>
              <a:t>The south region recorded the lowest sales and profit.</a:t>
            </a:r>
          </a:p>
          <a:p>
            <a:r>
              <a:rPr lang="en-GB" dirty="0"/>
              <a:t>Phones Are Best-Selling product</a:t>
            </a:r>
          </a:p>
          <a:p>
            <a:pPr marL="0" indent="0">
              <a:buNone/>
            </a:pPr>
            <a:r>
              <a:rPr lang="en-US" dirty="0"/>
              <a:t>Among all sub-categories, phone generated the highest sales.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8137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8736F-8AB4-4100-D444-5B68238D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378D-D95C-6896-4758-9ACE2E9CE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Product by Category</a:t>
            </a:r>
          </a:p>
          <a:p>
            <a:pPr marL="0" indent="0">
              <a:buNone/>
            </a:pPr>
            <a:r>
              <a:rPr lang="en-GB" dirty="0"/>
              <a:t>The most profitable category contributes about $145K in profit.</a:t>
            </a:r>
          </a:p>
          <a:p>
            <a:r>
              <a:rPr lang="en-GB" dirty="0"/>
              <a:t>Discount Impact</a:t>
            </a:r>
          </a:p>
          <a:p>
            <a:pPr marL="0" indent="0">
              <a:buNone/>
            </a:pPr>
            <a:r>
              <a:rPr lang="en-US" dirty="0"/>
              <a:t>The scatter plot show that:</a:t>
            </a:r>
          </a:p>
          <a:p>
            <a:r>
              <a:rPr lang="en-US" dirty="0"/>
              <a:t>Lower discounts tend to maintain profitability.</a:t>
            </a:r>
          </a:p>
          <a:p>
            <a:r>
              <a:rPr lang="en-US" dirty="0"/>
              <a:t>Higher discounts often reduced product</a:t>
            </a:r>
          </a:p>
          <a:p>
            <a:r>
              <a:rPr lang="en-US" dirty="0"/>
              <a:t>Excessive discounts may cause losses</a:t>
            </a:r>
          </a:p>
          <a:p>
            <a:pPr marL="0" indent="0">
              <a:buNone/>
            </a:pPr>
            <a:r>
              <a:rPr lang="en-GB" dirty="0"/>
              <a:t>Sales Trend</a:t>
            </a:r>
          </a:p>
          <a:p>
            <a:r>
              <a:rPr lang="en-GB" dirty="0"/>
              <a:t>Sales Increased over time with noticeable fluctuations, indicating seasonal demand patterns.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51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8685-21D5-E7C2-EC69-E1132AA7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A1EC-153B-8075-A005-15947C725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Increase investment in high-performing regions such as West and East.</a:t>
            </a:r>
          </a:p>
          <a:p>
            <a:r>
              <a:rPr lang="en-GB" dirty="0"/>
              <a:t>Investigate why the south region is underperforming.</a:t>
            </a:r>
          </a:p>
          <a:p>
            <a:r>
              <a:rPr lang="en-GB" dirty="0"/>
              <a:t>Reduce excessive discounts to improve profit margins.</a:t>
            </a:r>
          </a:p>
          <a:p>
            <a:r>
              <a:rPr lang="en-GB" dirty="0"/>
              <a:t>Increase stock and marketing for top-selling products such as phones and chairs.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46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E0F7-75C5-D52C-F0C3-20DC593B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E0AC6-818F-0F4D-2A4D-0E592A937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Challenges encountered during the project include:</a:t>
            </a:r>
          </a:p>
          <a:p>
            <a:r>
              <a:rPr lang="en-GB" dirty="0"/>
              <a:t>Understanding Power BI dashboard design</a:t>
            </a:r>
          </a:p>
          <a:p>
            <a:r>
              <a:rPr lang="en-GB" dirty="0"/>
              <a:t>Creating DAX measures for KPIs</a:t>
            </a:r>
          </a:p>
          <a:p>
            <a:r>
              <a:rPr lang="en-GB" dirty="0"/>
              <a:t>Choosing the most suitable visualizations</a:t>
            </a:r>
          </a:p>
          <a:p>
            <a:r>
              <a:rPr lang="en-GB" dirty="0"/>
              <a:t>Map Visualization restriction in Power BI settings</a:t>
            </a:r>
          </a:p>
          <a:p>
            <a:pPr marL="0" indent="0">
              <a:buNone/>
            </a:pPr>
            <a:r>
              <a:rPr lang="en-US" dirty="0"/>
              <a:t>These Challenges improved my problem-solving and dashboarding skills.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5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FAAC-5AC6-A7A4-D878-AC34399C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4229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</TotalTime>
  <Words>412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DATA VISUALIZATION &amp; DASHBOARDING PROJECT Superstore sales analysis dashboard</vt:lpstr>
      <vt:lpstr>About the dataset</vt:lpstr>
      <vt:lpstr>Business problem</vt:lpstr>
      <vt:lpstr>KEY PERFORMANCE INDICATORS (KPIs) </vt:lpstr>
      <vt:lpstr>Dashboard</vt:lpstr>
      <vt:lpstr>Key insights</vt:lpstr>
      <vt:lpstr>More insights</vt:lpstr>
      <vt:lpstr>recommendations</vt:lpstr>
      <vt:lpstr>CHALLENGES FACED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JAMES</dc:creator>
  <cp:lastModifiedBy>VERONICA JAMES</cp:lastModifiedBy>
  <cp:revision>1</cp:revision>
  <dcterms:created xsi:type="dcterms:W3CDTF">2026-06-25T21:05:44Z</dcterms:created>
  <dcterms:modified xsi:type="dcterms:W3CDTF">2026-06-25T21:55:00Z</dcterms:modified>
</cp:coreProperties>
</file>